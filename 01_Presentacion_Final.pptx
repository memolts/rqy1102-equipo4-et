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cvR0upiCF/6wYmSSdktLDHFqV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9A4E60-2B62-440B-8AC4-A7CBC65295FD}">
  <a:tblStyle styleId="{C89A4E60-2B62-440B-8AC4-A7CBC65295F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hyperlink" Target="https://github.com/MemoLTS/Ing-Software-Miraflores" TargetMode="External"/><Relationship Id="rId5" Type="http://schemas.openxmlformats.org/officeDocument/2006/relationships/hyperlink" Target="https://www.figma.com/make/DMKzsq9630qRLdY3au5SGp/6.-consultas-y-reportes?t=I11XtQVPH9T6lwUF-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spreadsheets/d/1Z79RRN3IQ3Q5p5zpnzY6XblHeuATTRAQ/edit?usp=sharing&amp;ouid=115290132895369216545&amp;rtpof=true&amp;sd=true" TargetMode="External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hyperlink" Target="https://www.figma.com/make/DMKzsq9630qRLdY3au5SGp/6.-consultas-y-reportes?t=I11XtQVPH9T6lwUF-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spreadsheets/d/1v4vlC_zC2qNubwVEE5HJ7LM1T0Gise-m/edit?usp=sharing&amp;ouid=115290132895369216545&amp;rtpof=true&amp;sd=true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29" y="495097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b="1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</a:t>
            </a:r>
            <a:r>
              <a:rPr b="1" i="0" lang="es-C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6: CONSULTAS, VISUALIZACIÓN Y CONTROL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DE SOFTWARE | RQY1102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scuelaIT Duoc UC - Escuela de Informática y Telecomunicaciones Duoc UC - Duoc  UC | LinkedIn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963" y="4463247"/>
            <a:ext cx="4536009" cy="1144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/>
          <p:nvPr/>
        </p:nvSpPr>
        <p:spPr>
          <a:xfrm>
            <a:off x="316102" y="1710816"/>
            <a:ext cx="3609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INTEGRANTES, ROLES Y TIPO DE ORGANIZACIÓN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grpSp>
        <p:nvGrpSpPr>
          <p:cNvPr id="95" name="Google Shape;95;p2"/>
          <p:cNvGrpSpPr/>
          <p:nvPr/>
        </p:nvGrpSpPr>
        <p:grpSpPr>
          <a:xfrm>
            <a:off x="4121026" y="1710819"/>
            <a:ext cx="7633553" cy="1359600"/>
            <a:chOff x="0" y="0"/>
            <a:chExt cx="7633553" cy="135960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Guillermo Leon Schroeder Toledo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Cargo: Developer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desempeñadas:desarrollo del módulo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1D2EA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Y PROPUESTA DE SOLUCIÓN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7" name="Google Shape;107;p3"/>
          <p:cNvSpPr/>
          <p:nvPr/>
        </p:nvSpPr>
        <p:spPr>
          <a:xfrm>
            <a:off x="371875" y="2169775"/>
            <a:ext cx="52611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/ Necesidad del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residentes no podían consultar fácilmente su estado de cuenta, pagos y deudas.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un módulo de consultas, visualización y exportación de reportes a Excel.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0" y="1384304"/>
            <a:ext cx="1219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8" name="Google Shape;118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aplicadas al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→ Diseño → Desarrollo → Testing → Mantenimiento.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Normativa aplicada: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modular y arquitectura 4+1. Estándares: ISO/IEC/IEEE 42010 e ISO 25010.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OBJETIVOS, ALCANCE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9" name="Google Shape;129;p5"/>
          <p:cNvSpPr txBox="1"/>
          <p:nvPr/>
        </p:nvSpPr>
        <p:spPr>
          <a:xfrm>
            <a:off x="1087700" y="2384450"/>
            <a:ext cx="76200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Permitir consultas en tiempo real.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Visualizar estados de cuenta.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Exportar reportes.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Alcance: RF17–RF21.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Limitaciones: Prototipo funcional</a:t>
            </a:r>
            <a:r>
              <a:rPr lang="es-CL"/>
              <a:t> y se asume ciertas cosas del trabajo de otros modulos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ESTRATEGIAS DE GESTIÓN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8" name="Google Shape;138;p6"/>
          <p:cNvSpPr txBox="1"/>
          <p:nvPr/>
        </p:nvSpPr>
        <p:spPr>
          <a:xfrm>
            <a:off x="136200" y="2519325"/>
            <a:ext cx="11184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Trabajo se </a:t>
            </a:r>
            <a:r>
              <a:rPr lang="es-CL"/>
              <a:t>desarrolló</a:t>
            </a: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CL"/>
              <a:t>forma</a:t>
            </a: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modular</a:t>
            </a:r>
            <a:r>
              <a:rPr lang="es-CL"/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 </a:t>
            </a:r>
            <a:r>
              <a:rPr lang="es-CL"/>
              <a:t>desarrolló</a:t>
            </a:r>
            <a:r>
              <a:rPr lang="es-CL"/>
              <a:t> un prototipo de </a:t>
            </a:r>
            <a:r>
              <a:rPr b="1" lang="es-CL"/>
              <a:t>figma.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de versiones </a:t>
            </a:r>
            <a:r>
              <a:rPr lang="es-CL"/>
              <a:t>semántica en la plataforma </a:t>
            </a:r>
            <a:r>
              <a:rPr b="1" i="0" lang="es-CL" sz="1400" u="none" cap="none" strike="noStrike">
                <a:solidFill>
                  <a:srgbClr val="000000"/>
                </a:solidFill>
              </a:rPr>
              <a:t>GitHub</a:t>
            </a:r>
            <a:r>
              <a:rPr lang="es-CL"/>
              <a:t> porque </a:t>
            </a:r>
            <a:r>
              <a:rPr lang="es-CL"/>
              <a:t>está</a:t>
            </a:r>
            <a:r>
              <a:rPr lang="es-CL"/>
              <a:t> integra nativamente el versionado semántico a través de etiquetas (tags) y GitHub Actions.  Para proyectos modulares, esto permite: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/>
              <a:t>Lanzamientos Atómicos:</a:t>
            </a:r>
            <a:r>
              <a:rPr lang="es-CL"/>
              <a:t> Cada módulo puede </a:t>
            </a:r>
            <a:r>
              <a:rPr lang="es-CL"/>
              <a:t>versionar</a:t>
            </a:r>
            <a:r>
              <a:rPr lang="es-CL"/>
              <a:t> y liberarse independientemente siguiendo el estándar, facilitando actualizaciones parciales del sistema.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/>
              <a:t>Automatización de Versiones: </a:t>
            </a:r>
            <a:r>
              <a:rPr lang="es-CL"/>
              <a:t>Herramientas como semantic-release o acciones personalizadas pueden leer los mensajes de los commits (ej. feat:, fix:, BREAKING CHANGE) para calcular automáticamente el siguiente número de versión y crear la etiqueta correspondiente, eliminando el error humano.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/>
              <a:t>Trazabilidad:</a:t>
            </a:r>
            <a:r>
              <a:rPr lang="es-CL"/>
              <a:t> Las etiquetas semánticas vinculan directamente el código en producción con el historial de cambios, facilitando la identificación de qué módulo y versión introdujo un error.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Links: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CL" u="sng">
                <a:solidFill>
                  <a:schemeClr val="hlink"/>
                </a:solidFill>
                <a:hlinkClick r:id="rId4"/>
              </a:rPr>
              <a:t>Git Hub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CL" u="sng">
                <a:solidFill>
                  <a:schemeClr val="hlink"/>
                </a:solidFill>
                <a:hlinkClick r:id="rId5"/>
              </a:rPr>
              <a:t>Figma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DEL PROYECTO (EDT + CARTA GANTT)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Adjuntar Carta Gantt detallada. Indicar avance y cumplimiento al término del proyecto.</a:t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graphicFrame>
        <p:nvGraphicFramePr>
          <p:cNvPr id="147" name="Google Shape;147;p7"/>
          <p:cNvGraphicFramePr/>
          <p:nvPr/>
        </p:nvGraphicFramePr>
        <p:xfrm>
          <a:off x="614321" y="20481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{C89A4E60-2B62-440B-8AC4-A7CBC65295FD}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540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4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i="1" lang="es-CL" sz="800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solidFill>
                          <a:schemeClr val="accent6"/>
                        </a:solidFill>
                        <a:highlight>
                          <a:schemeClr val="accent6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Diseño UML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Prototipo Figma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400" u="none" cap="none" strike="noStrike"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Documentación.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0" y="738250"/>
            <a:ext cx="8772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SOFTWARE - MODELO 4+1 (UML)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Vista Escenario: Casos de Uso  </a:t>
            </a:r>
            <a:endParaRPr b="0" i="0" sz="16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Vista Lógica: Clases  </a:t>
            </a:r>
            <a:endParaRPr b="0" i="0" sz="16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Vista Desarrollo: Componentes  </a:t>
            </a:r>
            <a:endParaRPr b="0" i="0" sz="16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Vista Proceso: Actividad  </a:t>
            </a:r>
            <a:endParaRPr b="0" i="0" sz="16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Vista Física: Despliegue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pic>
        <p:nvPicPr>
          <p:cNvPr id="156" name="Google Shape;15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343425"/>
            <a:ext cx="4085626" cy="3514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3750" y="3828652"/>
            <a:ext cx="4528250" cy="302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63750" y="799300"/>
            <a:ext cx="4367826" cy="2805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8026" y="4185800"/>
            <a:ext cx="3273326" cy="267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02272" y="1259237"/>
            <a:ext cx="4085627" cy="292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5" name="Google Shape;16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19450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FUNCIONALES Y NO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9"/>
          <p:cNvCxnSpPr/>
          <p:nvPr/>
        </p:nvCxnSpPr>
        <p:spPr>
          <a:xfrm>
            <a:off x="19450" y="4408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69" name="Google Shape;169;p9"/>
          <p:cNvSpPr txBox="1"/>
          <p:nvPr/>
        </p:nvSpPr>
        <p:spPr>
          <a:xfrm>
            <a:off x="297750" y="1424300"/>
            <a:ext cx="11596500" cy="5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200"/>
              <a:t>Requisitos Funcionales: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/>
              <a:t>RF-17. Acceso a información en tiempo real: El sistema debe permitir la consulta en línea de información relevante según perfil de usuario.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/>
              <a:t>RF-18. Consulta de información por parte de residentes: El sistema debe permitir la visualización de estado de cuenta, pagos y deudas.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/>
              <a:t>RF-19. Consulta administrativa avanzada: El sistema debe permitir la configuración y actualización de criterios de búsqueda para consultas dinámicas.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/>
              <a:t>RF-20. Búsqueda y filtros: El sistema debe permitir la configuración y uso de filtros avanzados de búsqueda.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200"/>
              <a:t>RF-21. Panel de control administrativo: El sistema debe permitir la visualización de indicadores clave de gestión.</a:t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 sz="1200">
                <a:solidFill>
                  <a:schemeClr val="dk1"/>
                </a:solidFill>
              </a:rPr>
              <a:t>REQUERIMIENTOS NO FUNCIONALES: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RNF-01. Usabilidad: El sistema debe ser intuitivo, fácil de usar y comprensible para usuarios administrativos y residentes con distintos niveles de alfabetización digital.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RNF-02. Accesibilidad: La interfaz debe cumplir criterios básicos de accesibilidad visual y de navegación, facilitando su uso por personas con distintas capacidades.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RNF-03. Compatibilidad: El sistema debe ser accesible desde navegadores web modernos y dispositivos móviles.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RNF-04. Rendimiento: El sistema debe responder las operaciones comunes de consulta en un tiempo no mayor a 3 segundos bajo carga normal.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RNF-05. Soporte multiusuario: El sistema debe permitir el uso simultáneo de múltiples usuarios sin degradación crítica del servicio.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RNF-06. Escalabilidad: El sistema debe adaptarse al crecimiento en número de usuarios, propiedades y transacciones sin afectar su desempeño.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RNF-07. Disponibilidad: El sistema debe estar disponible al menos el 99% del tiempo mensual, excluyendo mantenciones programadas.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RNF-08. Confiabilidad: El sistema debe evitar pérdida de información y asegurar consistencia en los datos transaccionales.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RNF-09. Respaldo y recuperación: El sistema debe realizar respaldos automáticos y permitir la recuperación ante fallas o errores.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RNF-10. Seguridad de acceso: El sistema debe implementar autenticación segura y control de acceso basado en roles y permisos.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RNF-11. Protección de datos: El sistema debe garantizar la confidencialidad e integridad de los datos personales, financieros y operativos.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RNF-12. Trazabilidad: El sistema debe mantener registros auditables de operaciones críticas como pagos, cobros, cambios y notificaciones.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RNF-13. Calidad de la información: El sistema debe validar datos obligatorios, formatos, duplicidades e inconsistencias antes de almacenarlos.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RNF-14. Notificaciones confiables: El sistema debe asegurar el registro del envío de notificaciones y gestionar reintentos en caso de fallas.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RNF-15. Mantenibilidad: El sistema debe estar diseñado de forma modular para facilitar mantenimiento, correcciones y mejoras.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RNF-16. Configurabilidad: El sistema debe permitir parametrizar reglas de negocio sin necesidad de modificar el código fuente.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RNF-17. Localización y contexto normativo: El sistema debe permitir su adaptación configurable a distintos contextos, incluyendo idioma, moneda, formato de fecha y reglas de cobro definidas por cada administración o país, sin requerir cambios en el código fuente.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>
                <a:solidFill>
                  <a:schemeClr val="dk1"/>
                </a:solidFill>
              </a:rPr>
              <a:t>RNF-18. Interoperabilidad: El sistema debe permitir la integración con sistemas externos como plataformas de pago, correo electrónico, mensajería y sistemas contables.</a:t>
            </a:r>
            <a:endParaRPr sz="1200"/>
          </a:p>
        </p:txBody>
      </p:sp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6: CONSULTAS, VISUALIZACIÓN Y CONTROL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0" y="1432655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L" sz="2400" u="none" cap="none" strike="noStrike">
                <a:solidFill>
                  <a:schemeClr val="dk1"/>
                </a:solidFill>
              </a:rPr>
              <a:t>ESTÁNDARES DE CALIDAD -</a:t>
            </a:r>
            <a:r>
              <a:rPr b="1" lang="es-CL" sz="2400">
                <a:solidFill>
                  <a:schemeClr val="dk1"/>
                </a:solidFill>
              </a:rPr>
              <a:t> I</a:t>
            </a:r>
            <a:r>
              <a:rPr b="1" lang="es-CL" sz="2400">
                <a:solidFill>
                  <a:schemeClr val="dk1"/>
                </a:solidFill>
              </a:rPr>
              <a:t>SO/IEC/IEEE 42010</a:t>
            </a:r>
            <a:endParaRPr b="1" i="0" sz="2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77" name="Google Shape;17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78" name="Google Shape;178;p10"/>
          <p:cNvSpPr txBox="1"/>
          <p:nvPr/>
        </p:nvSpPr>
        <p:spPr>
          <a:xfrm>
            <a:off x="371900" y="2333375"/>
            <a:ext cx="63657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ISO/IEC/IEEE 42010 para arquitectura.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 </a:t>
            </a:r>
            <a:r>
              <a:rPr lang="es-CL"/>
              <a:t>utilizó</a:t>
            </a:r>
            <a:r>
              <a:rPr lang="es-CL"/>
              <a:t> la </a:t>
            </a:r>
            <a:r>
              <a:rPr lang="es-CL"/>
              <a:t>EVALUACIÓN</a:t>
            </a:r>
            <a:r>
              <a:rPr lang="es-CL"/>
              <a:t> </a:t>
            </a:r>
            <a:r>
              <a:rPr lang="es-CL"/>
              <a:t>HEURÍSTICA</a:t>
            </a:r>
            <a:r>
              <a:rPr lang="es-CL"/>
              <a:t> DE USABILIDAD - NIELSEN para la </a:t>
            </a:r>
            <a:r>
              <a:rPr lang="es-CL"/>
              <a:t>medición</a:t>
            </a:r>
            <a:r>
              <a:rPr lang="es-CL"/>
              <a:t> del </a:t>
            </a:r>
            <a:r>
              <a:rPr lang="es-CL"/>
              <a:t>estándar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4"/>
              </a:rPr>
              <a:t>EVALUACIÓN HEURÍSTICA</a:t>
            </a:r>
            <a:endParaRPr/>
          </a:p>
        </p:txBody>
      </p:sp>
      <p:pic>
        <p:nvPicPr>
          <p:cNvPr id="179" name="Google Shape;179;p10"/>
          <p:cNvPicPr preferRelativeResize="0"/>
          <p:nvPr/>
        </p:nvPicPr>
        <p:blipFill rotWithShape="1">
          <a:blip r:embed="rId5">
            <a:alphaModFix/>
          </a:blip>
          <a:srcRect b="0" l="-965" r="2463" t="0"/>
          <a:stretch/>
        </p:blipFill>
        <p:spPr>
          <a:xfrm>
            <a:off x="6818975" y="2826225"/>
            <a:ext cx="5094576" cy="397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1" y="2707792"/>
            <a:ext cx="121920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PROTOTIPO DE ALTA FIDELIDAD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Herramienta utilizada para prototipar</a:t>
            </a:r>
            <a:b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Demostración de flujos principales</a:t>
            </a:r>
            <a:b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• Requisitos funcionales y no funcionales implementados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s-CL" u="sng">
                <a:solidFill>
                  <a:schemeClr val="hlink"/>
                </a:solidFill>
                <a:hlinkClick r:id="rId4"/>
              </a:rPr>
              <a:t>Figma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DE PRUEBAS Y CASOS DE PRUEBA (ISO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223600" y="511300"/>
            <a:ext cx="762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4"/>
              </a:rPr>
              <a:t>Excel</a:t>
            </a:r>
            <a:endParaRPr/>
          </a:p>
        </p:txBody>
      </p:sp>
      <p:pic>
        <p:nvPicPr>
          <p:cNvPr id="193" name="Google Shape;193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5025" y="2396075"/>
            <a:ext cx="5907125" cy="446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28108" y="2228525"/>
            <a:ext cx="3085442" cy="45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9" name="Google Shape;1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 txBox="1"/>
          <p:nvPr/>
        </p:nvSpPr>
        <p:spPr>
          <a:xfrm>
            <a:off x="98451" y="9013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ACCIONES DE MEJORA Y CONTROL DE VERSIONES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354850" y="1670875"/>
            <a:ext cx="93252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Se utilizó GitHub como sistema de control de versiones para gestionar los cambios del código fuente de manera organizada y segura.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Su uso permitió mantener un historial de modificaciones, facilitar el trabajo colaborativo mediante ramas y fusiones, resolver conflictos de manera eficiente y respaldar el proyecto en un repositorio remoto. Esto mejoró la trazabilidad, la </a:t>
            </a:r>
            <a:r>
              <a:rPr lang="es-CL">
                <a:solidFill>
                  <a:schemeClr val="dk1"/>
                </a:solidFill>
              </a:rPr>
              <a:t>coordinación del equipo y la calidad del desarrollo del software.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Se usó figma porque esta plataforma facilita la colaboración en tiempo real y validación de Stakeholders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</a:rPr>
              <a:t>La gestión de gastos comunes involucra reglas de negocio complejas y requisitos legales que deben ser validados por expertos en administración antes de escribir código. Figma permite la colaboración simultánea en el mismo archivo, donde administradores y desarrolladores pueden revisar flujos de cobro, distribución de gastos y reportes en tiempo real. Esto elimina la ambigüedad de los documentos estáticos y permite iterar rápidamente sobre la lógica de negocio crítica (ej.  cálculo de morosidad o prorrateo de servicios) antes de la implementación.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2" name="Google Shape;20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9899" y="4523650"/>
            <a:ext cx="4612100" cy="227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7" name="Google Shape;2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